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457200"/>
            <a:ext cx="54864" cy="4114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2651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Customer</a:t>
            </a:r>
            <a:endParaRPr lang="en-US" sz="2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Churn</a:t>
            </a:r>
            <a:endParaRPr lang="en-US" sz="2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Prediction</a:t>
            </a:r>
            <a:endParaRPr lang="en-US" sz="2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3566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D8"/>
                </a:solidFill>
              </a:rPr>
              <a:t>BIS405 Graduation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886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B8D8"/>
                </a:solidFill>
              </a:rPr>
              <a:t>Final Presentation  |  Spring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566160" y="548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Analytics Team Alpha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98755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F8C9A"/>
                </a:solidFill>
              </a:rPr>
              <a:t>Group 3  —  Imam Abdulrahman Bin Faisal University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66160" y="1325880"/>
            <a:ext cx="530352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508760"/>
            <a:ext cx="347472" cy="34747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0" y="14813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Maha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0" y="17373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Data Scientist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0" y="15727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980B9"/>
                </a:solidFill>
              </a:rPr>
              <a:t>Scrum Master (Sprint 5)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566160" y="2258568"/>
            <a:ext cx="347472" cy="34747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2231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Hadeel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24871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Business Analyst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3225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980B9"/>
                </a:solidFill>
              </a:rPr>
              <a:t>Scrum Master (Sprint 3)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566160" y="3008376"/>
            <a:ext cx="347472" cy="34747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29809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</a:rPr>
              <a:t>Ghadeer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0" y="32369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ML Engineer / Dashboard Lead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43600" y="30723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980B9"/>
                </a:solidFill>
              </a:rPr>
              <a:t>Scrum Master (Sprint 4)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566160" y="3749040"/>
            <a:ext cx="530352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8587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4206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Sprints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92040" y="38587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505K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92040" y="4206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Records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38587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0.9536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17920" y="4206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ROC-AUC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543800" y="38587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5/5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43800" y="4206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KPIs Met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Presentation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023360" cy="841248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04672"/>
            <a:ext cx="502920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87782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Problem Statement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12161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Why churn prediction matters — business impact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4023360" cy="841248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28800"/>
            <a:ext cx="502920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2880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9019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Dataset &amp; EDA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505,206 records — key findings from Sprint 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852928"/>
            <a:ext cx="4023360" cy="841248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52928"/>
            <a:ext cx="502920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5292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9260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Model Development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0120" y="326440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Sprints 2 &amp; 3 — from baseline to XGBoost 0.9536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877056"/>
            <a:ext cx="4023360" cy="841248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877056"/>
            <a:ext cx="502920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77056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95020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Dashboard System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428853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Sprint 4 — 5-page Streamlit live application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804672"/>
            <a:ext cx="4023360" cy="841248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804672"/>
            <a:ext cx="502920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804672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87782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KPI Results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49240" y="12161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All 5 project KPIs exceeded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1828800"/>
            <a:ext cx="4023360" cy="841248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828800"/>
            <a:ext cx="502920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82880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19019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Business Value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49240" y="22402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Retention strategy + SAR 32.9M impact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2852928"/>
            <a:ext cx="4023360" cy="841248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2852928"/>
            <a:ext cx="502920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85292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9240" y="29260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3E50"/>
                </a:solidFill>
              </a:rPr>
              <a:t>Final Deliverables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49240" y="326440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Sprint 5 — report, slides, demo, testing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60320" y="4892040"/>
            <a:ext cx="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01 · PROBLEM STATEMENT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Why Does Customer Churn Matter?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78992"/>
            <a:ext cx="19933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1993392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0700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5×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1480" y="181051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9A"/>
                </a:solidFill>
              </a:rPr>
              <a:t>Cost to acquire vs retain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96312" y="1078992"/>
            <a:ext cx="19933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1078992"/>
            <a:ext cx="1993392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20700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55.5%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87752" y="181051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9A"/>
                </a:solidFill>
              </a:rPr>
              <a:t>Dataset churn rate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72584" y="1078992"/>
            <a:ext cx="19933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1078992"/>
            <a:ext cx="1993392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120700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Reactive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64024" y="181051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9A"/>
                </a:solidFill>
              </a:rPr>
              <a:t>Traditional approach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48856" y="1078992"/>
            <a:ext cx="19933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1078992"/>
            <a:ext cx="1993392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48856" y="120700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Costly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40296" y="181051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9A"/>
                </a:solidFill>
              </a:rPr>
              <a:t>Late intervention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606040"/>
            <a:ext cx="850392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7889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1272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Build a machine learning system that identifies at-risk customers before they leave, enabling the retention team to intervene proactively and protect revenue.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749040"/>
            <a:ext cx="1965960" cy="777240"/>
          </a:xfrm>
          <a:prstGeom prst="rect">
            <a:avLst/>
          </a:prstGeom>
          <a:solidFill>
            <a:srgbClr val="F0F2F7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8130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449"/>
                </a:solidFill>
              </a:rPr>
              <a:t>XGBoost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AUC 0.9536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14600" y="3749040"/>
            <a:ext cx="1965960" cy="777240"/>
          </a:xfrm>
          <a:prstGeom prst="rect">
            <a:avLst/>
          </a:prstGeom>
          <a:solidFill>
            <a:srgbClr val="F0F2F7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38130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</a:rPr>
              <a:t>5-Page Dashboard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606040" y="4114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Real-time predictions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749040"/>
            <a:ext cx="1965960" cy="777240"/>
          </a:xfrm>
          <a:prstGeom prst="rect">
            <a:avLst/>
          </a:prstGeom>
          <a:solidFill>
            <a:srgbClr val="F0F2F7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8130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276"/>
                </a:solidFill>
              </a:rPr>
              <a:t>Actionable Insights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4114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Retention rules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12280" y="3749040"/>
            <a:ext cx="1965960" cy="777240"/>
          </a:xfrm>
          <a:prstGeom prst="rect">
            <a:avLst/>
          </a:prstGeom>
          <a:solidFill>
            <a:srgbClr val="F0F2F7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38130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All KPIs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03720" y="4114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EXCEEDED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02 · DATASET &amp; EDA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Dataset Overview &amp; Key EDA Findings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1664208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14300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505,206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171907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Records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93392" y="1005840"/>
            <a:ext cx="1664208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114300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276"/>
                </a:solidFill>
              </a:rPr>
              <a:t>11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66544" y="171907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Features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12464" y="1005840"/>
            <a:ext cx="1664208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12464" y="114300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55.5%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85616" y="171907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Churn Rate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31536" y="1005840"/>
            <a:ext cx="1664208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31536" y="114300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449"/>
                </a:solidFill>
              </a:rPr>
              <a:t>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04688" y="171907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Missing Values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50608" y="1005840"/>
            <a:ext cx="1664208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7F8C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50608" y="114300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8C9A"/>
                </a:solidFill>
              </a:rPr>
              <a:t>Kaggle CC0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23760" y="171907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Data Licence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" y="25786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Top Churn Drivers — Sprint 1 EDA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944368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944368"/>
            <a:ext cx="4114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443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#1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68680" y="29443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Support Calls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97480" y="29443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Importance: 0.2627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0" y="29443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6+ calls → 100% churn rate (confirmed)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337560"/>
            <a:ext cx="8412480" cy="347472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337560"/>
            <a:ext cx="411480" cy="34747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3375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#2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68680" y="3337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Contract Length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697480" y="33375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6F1E"/>
                </a:solidFill>
              </a:rPr>
              <a:t>Importance: 0.2303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114800" y="33375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Monthly far higher risk than Annual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3730752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730752"/>
            <a:ext cx="411480" cy="34747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7307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#3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3730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Payment Delay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697480" y="37307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6F1E"/>
                </a:solidFill>
              </a:rPr>
              <a:t>Importance: 0.1351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114800" y="37307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Delays &gt; 15 days strongly predict churn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4123944"/>
            <a:ext cx="8412480" cy="347472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4123944"/>
            <a:ext cx="41148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12394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#4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68680" y="41239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Total Spend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697480" y="41239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5276"/>
                </a:solidFill>
              </a:rPr>
              <a:t>Importance: 0.1163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114800" y="412394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High spenders also carry elevated risk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4517136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4517136"/>
            <a:ext cx="41148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5171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#5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68680" y="45171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Age / Tenure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697480" y="45171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5276"/>
                </a:solidFill>
              </a:rPr>
              <a:t>Importance: 0.0852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114800" y="451713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Younger and newer customers most at risk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03 · MODEL DEVELOPMENT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From Baseline to Best Model — Sprints 2 &amp; 3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960120"/>
            <a:ext cx="1078992" cy="822960"/>
          </a:xfrm>
          <a:prstGeom prst="rect">
            <a:avLst/>
          </a:prstGeom>
          <a:solidFill>
            <a:srgbClr val="F0F2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987552"/>
            <a:ext cx="107899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864"/>
                </a:solidFill>
              </a:rPr>
              <a:t>Raw 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3864"/>
                </a:solidFill>
              </a:rPr>
              <a:t>505K records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1371600"/>
            <a:ext cx="173736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1508760" y="960120"/>
            <a:ext cx="1078992" cy="822960"/>
          </a:xfrm>
          <a:prstGeom prst="rect">
            <a:avLst/>
          </a:prstGeom>
          <a:solidFill>
            <a:srgbClr val="F0F2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987552"/>
            <a:ext cx="107899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864"/>
                </a:solidFill>
              </a:rPr>
              <a:t>Stratified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3864"/>
                </a:solidFill>
              </a:rPr>
              <a:t>Sample 50K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87752" y="1371600"/>
            <a:ext cx="173736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2761488" y="960120"/>
            <a:ext cx="1078992" cy="822960"/>
          </a:xfrm>
          <a:prstGeom prst="rect">
            <a:avLst/>
          </a:prstGeom>
          <a:solidFill>
            <a:srgbClr val="F0F2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61488" y="987552"/>
            <a:ext cx="107899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864"/>
                </a:solidFill>
              </a:rPr>
              <a:t>Preprocessing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3864"/>
                </a:solidFill>
              </a:rPr>
              <a:t>&amp; Encoding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0" y="1371600"/>
            <a:ext cx="173736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4014216" y="960120"/>
            <a:ext cx="1078992" cy="822960"/>
          </a:xfrm>
          <a:prstGeom prst="rect">
            <a:avLst/>
          </a:prstGeom>
          <a:solidFill>
            <a:srgbClr val="F0F2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14216" y="987552"/>
            <a:ext cx="107899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864"/>
                </a:solidFill>
              </a:rPr>
              <a:t>70/15/15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3864"/>
                </a:solidFill>
              </a:rPr>
              <a:t>Train Split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93208" y="1371600"/>
            <a:ext cx="173736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5266944" y="960120"/>
            <a:ext cx="1078992" cy="822960"/>
          </a:xfrm>
          <a:prstGeom prst="rect">
            <a:avLst/>
          </a:prstGeom>
          <a:solidFill>
            <a:srgbClr val="F0F2F7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6944" y="987552"/>
            <a:ext cx="107899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5276"/>
                </a:solidFill>
              </a:rPr>
              <a:t>Logistic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5276"/>
                </a:solidFill>
              </a:rPr>
              <a:t>Regression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45936" y="1371600"/>
            <a:ext cx="173736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6519672" y="960120"/>
            <a:ext cx="1078992" cy="822960"/>
          </a:xfrm>
          <a:prstGeom prst="rect">
            <a:avLst/>
          </a:prstGeom>
          <a:solidFill>
            <a:srgbClr val="F0F2F7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987552"/>
            <a:ext cx="107899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5276"/>
                </a:solidFill>
              </a:rPr>
              <a:t>RF / XGB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5276"/>
                </a:solidFill>
              </a:rPr>
              <a:t>LightGBM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598664" y="1371600"/>
            <a:ext cx="173736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7772400" y="960120"/>
            <a:ext cx="1078992" cy="822960"/>
          </a:xfrm>
          <a:prstGeom prst="rect">
            <a:avLst/>
          </a:prstGeom>
          <a:solidFill>
            <a:srgbClr val="1F3864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987552"/>
            <a:ext cx="107899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XGBoost ★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SELECTED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1920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Sprint 3 — Model Comparison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6032" y="2304288"/>
            <a:ext cx="1901952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230428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Model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76272" y="2304288"/>
            <a:ext cx="941832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76272" y="2304288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ROC-AUC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136392" y="2304288"/>
            <a:ext cx="850392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36392" y="230428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F1-Score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005072" y="2304288"/>
            <a:ext cx="941832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05072" y="2304288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Precision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965192" y="2304288"/>
            <a:ext cx="804672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65192" y="230428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Recall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788152" y="2304288"/>
            <a:ext cx="804672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30428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FPR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11112" y="2304288"/>
            <a:ext cx="941832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11112" y="2304288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Train Time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56032" y="2615184"/>
            <a:ext cx="19019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" y="261518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Logistic Regression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176272" y="2615184"/>
            <a:ext cx="94183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76272" y="2615184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0.9285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36392" y="2615184"/>
            <a:ext cx="85039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36392" y="2615184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0.8363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005072" y="2615184"/>
            <a:ext cx="94183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05072" y="2615184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0.8767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965192" y="2615184"/>
            <a:ext cx="8046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65192" y="261518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0.7995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788152" y="2615184"/>
            <a:ext cx="8046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88152" y="261518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~20%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611112" y="2615184"/>
            <a:ext cx="94183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11112" y="2615184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&lt;1s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56032" y="2962656"/>
            <a:ext cx="1901952" cy="329184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032" y="296265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Random Forest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176272" y="2962656"/>
            <a:ext cx="941832" cy="329184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76272" y="296265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0.9535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136392" y="2962656"/>
            <a:ext cx="850392" cy="329184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36392" y="296265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0.9394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005072" y="2962656"/>
            <a:ext cx="941832" cy="329184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05072" y="296265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0.8971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965192" y="2962656"/>
            <a:ext cx="804672" cy="329184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65192" y="2962656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0.9858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788152" y="2962656"/>
            <a:ext cx="804672" cy="329184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88152" y="2962656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10.1%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611112" y="2962656"/>
            <a:ext cx="941832" cy="329184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11112" y="2962656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6.7s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56032" y="3310128"/>
            <a:ext cx="19019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6032" y="331012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LightGBM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176272" y="3310128"/>
            <a:ext cx="94183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176272" y="3310128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0.9536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136392" y="3310128"/>
            <a:ext cx="85039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36392" y="3310128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0.9348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005072" y="3310128"/>
            <a:ext cx="94183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005072" y="3310128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0.8984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965192" y="3310128"/>
            <a:ext cx="8046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965192" y="331012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0.9743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788152" y="3310128"/>
            <a:ext cx="8046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788152" y="331012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10.3%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611112" y="3310128"/>
            <a:ext cx="94183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11112" y="3310128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2.6s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56032" y="3657600"/>
            <a:ext cx="1901952" cy="329184"/>
          </a:xfrm>
          <a:prstGeom prst="rect">
            <a:avLst/>
          </a:prstGeom>
          <a:solidFill>
            <a:srgbClr val="E8F4E8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56032" y="365760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XGBoost ★ Selected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2176272" y="3657600"/>
            <a:ext cx="941832" cy="329184"/>
          </a:xfrm>
          <a:prstGeom prst="rect">
            <a:avLst/>
          </a:prstGeom>
          <a:solidFill>
            <a:srgbClr val="E8F4E8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176272" y="3657600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0.9536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136392" y="3657600"/>
            <a:ext cx="850392" cy="329184"/>
          </a:xfrm>
          <a:prstGeom prst="rect">
            <a:avLst/>
          </a:prstGeom>
          <a:solidFill>
            <a:srgbClr val="E8F4E8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36392" y="3657600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0.9357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005072" y="3657600"/>
            <a:ext cx="941832" cy="329184"/>
          </a:xfrm>
          <a:prstGeom prst="rect">
            <a:avLst/>
          </a:prstGeom>
          <a:solidFill>
            <a:srgbClr val="E8F4E8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005072" y="3657600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0.8983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965192" y="3657600"/>
            <a:ext cx="804672" cy="329184"/>
          </a:xfrm>
          <a:prstGeom prst="rect">
            <a:avLst/>
          </a:prstGeom>
          <a:solidFill>
            <a:srgbClr val="E8F4E8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965192" y="365760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0.9762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788152" y="3657600"/>
            <a:ext cx="804672" cy="329184"/>
          </a:xfrm>
          <a:prstGeom prst="rect">
            <a:avLst/>
          </a:prstGeom>
          <a:solidFill>
            <a:srgbClr val="E8F4E8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788152" y="365760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10.2%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611112" y="3657600"/>
            <a:ext cx="941832" cy="329184"/>
          </a:xfrm>
          <a:prstGeom prst="rect">
            <a:avLst/>
          </a:prstGeom>
          <a:solidFill>
            <a:srgbClr val="E8F4E8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611112" y="3657600"/>
            <a:ext cx="941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1.7s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274320" y="40690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8449"/>
                </a:solidFill>
              </a:rPr>
              <a:t>★ XGBoost selected: best AUC + fastest training (1.7s) + industry-standard deployment ecosystem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274320" y="4370832"/>
            <a:ext cx="8595360" cy="621792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57200" y="44348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864"/>
                </a:solidFill>
              </a:rPr>
              <a:t>XGBoost Config: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1920240" y="4434840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n_estimators=200  |  max_depth=6  |  learning_rate=0.1  |  subsample=0.8  |  colsample_bytree=0.8  |  scale_pos_weight=auto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457200" y="46817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864"/>
                </a:solidFill>
              </a:rPr>
              <a:t>Data Split: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1691640" y="468172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70% Train (35,020)  |  15% Validation (7,480)  |  15% Test (7,500)  |  random_state=42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05 · KPI RESULTS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All 5 Project KPIs Exceeded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9A"/>
                </a:solidFill>
              </a:rPr>
              <a:t>Every technical and performance target was surpassed — across Sprints 1 through 4.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841248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89888"/>
            <a:ext cx="841248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89888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KPI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267712" y="138988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Target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39312" y="138988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Achieved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285232" y="138988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Sprint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382512" y="1389888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Margin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88352" y="138988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Status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1755648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755648"/>
            <a:ext cx="54864" cy="4754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1755648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KPI 1 — ROC-AUC Score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17556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≥ 0.75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17556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449"/>
                </a:solidFill>
              </a:rPr>
              <a:t>0.9536 (XGBoost)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0" y="175564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Sprint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175564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+0.2036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98080" y="1847088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18470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EXCEEDED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2286000"/>
            <a:ext cx="8412480" cy="475488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286000"/>
            <a:ext cx="54864" cy="4754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2286000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KPI 2 — Precision @ Top 20%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0" y="22860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≥ 70%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0" y="22860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449"/>
                </a:solidFill>
              </a:rPr>
              <a:t>89.83%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03520" y="228600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Sprint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22860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+19.83%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98080" y="237744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2377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EXCEEDED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65760" y="2816352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2816352"/>
            <a:ext cx="54864" cy="4754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" y="2816352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KPI 3 — False Positive Rate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286000" y="28163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&lt; 30%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0" y="281635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449"/>
                </a:solidFill>
              </a:rPr>
              <a:t>10.2%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03520" y="281635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Sprint 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281635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−19.8%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498080" y="2907792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0" y="2907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EXCEEDED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65760" y="3346704"/>
            <a:ext cx="8412480" cy="475488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3346704"/>
            <a:ext cx="54864" cy="4754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3346704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KPI 4 — Model Training Time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286000" y="334670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&lt; 5 min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0" y="334670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449"/>
                </a:solidFill>
              </a:rPr>
              <a:t>1.7 seconds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03520" y="334670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Sprint 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00800" y="334670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−4m 58s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498080" y="3438144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0" y="34381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EXCEEDED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65760" y="3877056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" y="3877056"/>
            <a:ext cx="54864" cy="4754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064" y="3877056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KPI 5 — Dashboard Load Time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286000" y="387705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&lt; 3 sec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57600" y="387705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449"/>
                </a:solidFill>
              </a:rPr>
              <a:t>&lt; 2 seconds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303520" y="3877056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Sprint 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400800" y="387705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−1 sec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498080" y="3968496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98080" y="3968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 EXCEEDED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03 · MODEL INSIGHTS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XGBoost Feature Importance &amp; Business Actions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Support Calls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1161288"/>
            <a:ext cx="411480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0972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26.3%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0" y="10972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F8C9A"/>
                </a:solidFill>
              </a:rPr>
              <a:t>Immediate outreach for 6+ calls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1453896"/>
            <a:ext cx="8412480" cy="320040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538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Contract Length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77440" y="1517904"/>
            <a:ext cx="3607303" cy="18288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0463" y="145389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A6F1E"/>
                </a:solidFill>
              </a:rPr>
              <a:t>23.0%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315200" y="145389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F8C9A"/>
                </a:solidFill>
              </a:rPr>
              <a:t>Upsell Monthly → Annual contracts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1810512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8105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Payment Delay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0" y="1874520"/>
            <a:ext cx="2116138" cy="18288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39298" y="18105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A6F1E"/>
                </a:solidFill>
              </a:rPr>
              <a:t>13.5%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0" y="181051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F8C9A"/>
                </a:solidFill>
              </a:rPr>
              <a:t>Intervene at 10-day delay mark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2167128"/>
            <a:ext cx="8412480" cy="320040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1671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Total Spend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77440" y="2231136"/>
            <a:ext cx="1821664" cy="1828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44824" y="21671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5276"/>
                </a:solidFill>
              </a:rPr>
              <a:t>11.6%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15200" y="21671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F8C9A"/>
                </a:solidFill>
              </a:rPr>
              <a:t>VIP retention for high spenders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5760" y="2523744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5237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Age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377440" y="2587752"/>
            <a:ext cx="1334530" cy="1828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57690" y="252374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5276"/>
                </a:solidFill>
              </a:rPr>
              <a:t>8.5%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15200" y="252374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F8C9A"/>
                </a:solidFill>
              </a:rPr>
              <a:t>Targeted youth retention offers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65760" y="2880360"/>
            <a:ext cx="8412480" cy="320040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Last Interaction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377440" y="2944368"/>
            <a:ext cx="1235850" cy="182880"/>
          </a:xfrm>
          <a:prstGeom prst="rect">
            <a:avLst/>
          </a:prstGeom>
          <a:solidFill>
            <a:srgbClr val="7F8C9A"/>
          </a:solidFill>
          <a:ln w="12700">
            <a:solidFill>
              <a:srgbClr val="7F8C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9010" y="2880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8C9A"/>
                </a:solidFill>
              </a:rPr>
              <a:t>7.9%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315200" y="28803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F8C9A"/>
                </a:solidFill>
              </a:rPr>
              <a:t>Re-engagement for dormant users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65760" y="3236976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2369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Tenure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377440" y="3300984"/>
            <a:ext cx="1099577" cy="182880"/>
          </a:xfrm>
          <a:prstGeom prst="rect">
            <a:avLst/>
          </a:prstGeom>
          <a:solidFill>
            <a:srgbClr val="7F8C9A"/>
          </a:solidFill>
          <a:ln w="12700">
            <a:solidFill>
              <a:srgbClr val="7F8C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2737" y="323697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8C9A"/>
                </a:solidFill>
              </a:rPr>
              <a:t>7.0%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315200" y="323697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F8C9A"/>
                </a:solidFill>
              </a:rPr>
              <a:t>Early-tenure onboarding programme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65760" y="3593592"/>
            <a:ext cx="8412480" cy="320040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593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Usage Frequency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377440" y="3657600"/>
            <a:ext cx="853660" cy="182880"/>
          </a:xfrm>
          <a:prstGeom prst="rect">
            <a:avLst/>
          </a:prstGeom>
          <a:solidFill>
            <a:srgbClr val="7F8C9A"/>
          </a:solidFill>
          <a:ln w="12700">
            <a:solidFill>
              <a:srgbClr val="7F8C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76820" y="359359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8C9A"/>
                </a:solidFill>
              </a:rPr>
              <a:t>5.5%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315200" y="359359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F8C9A"/>
                </a:solidFill>
              </a:rPr>
              <a:t>Usage prompts for low-activity users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65760" y="3950208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9502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Subscription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377440" y="4014216"/>
            <a:ext cx="722087" cy="182880"/>
          </a:xfrm>
          <a:prstGeom prst="rect">
            <a:avLst/>
          </a:prstGeom>
          <a:solidFill>
            <a:srgbClr val="7F8C9A"/>
          </a:solidFill>
          <a:ln w="12700">
            <a:solidFill>
              <a:srgbClr val="7F8C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45247" y="395020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8C9A"/>
                </a:solidFill>
              </a:rPr>
              <a:t>4.6%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315200" y="395020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F8C9A"/>
                </a:solidFill>
              </a:rPr>
              <a:t>Upgrade incentives for Basic tier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65760" y="4306824"/>
            <a:ext cx="8412480" cy="320040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3068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Gender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377440" y="4370832"/>
            <a:ext cx="324234" cy="182880"/>
          </a:xfrm>
          <a:prstGeom prst="rect">
            <a:avLst/>
          </a:prstGeom>
          <a:solidFill>
            <a:srgbClr val="7F8C9A"/>
          </a:solidFill>
          <a:ln w="12700">
            <a:solidFill>
              <a:srgbClr val="7F8C9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7394" y="430682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8C9A"/>
                </a:solidFill>
              </a:rPr>
              <a:t>2.1%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315200" y="430682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F8C9A"/>
                </a:solidFill>
              </a:rPr>
              <a:t>Monitor for demographic patterns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980B9"/>
                </a:solidFill>
              </a:rPr>
              <a:t>Sprint 5: SHAP waterfall chart added to Page 3 for local prediction interpretability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04 · STREAMLIT DASHBOARD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5-Page Interactive Dashboard — Sprint 4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157276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24128"/>
            <a:ext cx="1572768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2412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Page 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" y="16002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</a:rPr>
              <a:t>Executive Dashboard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1389888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40280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6 KPI cards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Churn by contract &amp; subscription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Tenure histogram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3584448"/>
            <a:ext cx="1389888" cy="27432"/>
          </a:xfrm>
          <a:prstGeom prst="rect">
            <a:avLst/>
          </a:prstGeom>
          <a:solidFill>
            <a:srgbClr val="D5DCE8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6576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864"/>
                </a:solidFill>
              </a:rPr>
              <a:t>👤 Maha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3977640"/>
            <a:ext cx="1389888" cy="457200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776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8449"/>
                </a:solidFill>
              </a:rPr>
              <a:t>Sprint 4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E8449"/>
                </a:solidFill>
              </a:rPr>
              <a:t>Delivered ✓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11680" y="1024128"/>
            <a:ext cx="157276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0" y="1024128"/>
            <a:ext cx="1572768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102412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Page 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84832" y="16002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Churn Predictor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03120" y="2176272"/>
            <a:ext cx="1389888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2240280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11-feature input form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XGBoost real-time scoring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Gauge + retention tips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03120" y="3584448"/>
            <a:ext cx="1389888" cy="27432"/>
          </a:xfrm>
          <a:prstGeom prst="rect">
            <a:avLst/>
          </a:prstGeom>
          <a:solidFill>
            <a:srgbClr val="D5DCE8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36576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👤 Maha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03120" y="3977640"/>
            <a:ext cx="1389888" cy="457200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39776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8449"/>
                </a:solidFill>
              </a:rPr>
              <a:t>Sprint 4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E8449"/>
                </a:solidFill>
              </a:rPr>
              <a:t>Delivered ✓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749040" y="1024128"/>
            <a:ext cx="157276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49040" y="1024128"/>
            <a:ext cx="1572768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102412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Page 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822192" y="16002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276"/>
                </a:solidFill>
              </a:rPr>
              <a:t>Advanced Analytics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0" y="2176272"/>
            <a:ext cx="1389888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2240280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Feature importance chart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Correlation heatmap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SHAP waterfall (Sprint 5)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40480" y="3584448"/>
            <a:ext cx="1389888" cy="27432"/>
          </a:xfrm>
          <a:prstGeom prst="rect">
            <a:avLst/>
          </a:prstGeom>
          <a:solidFill>
            <a:srgbClr val="D5DCE8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36576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5276"/>
                </a:solidFill>
              </a:rPr>
              <a:t>👤 Hadeel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840480" y="3977640"/>
            <a:ext cx="1389888" cy="457200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0" y="39776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8449"/>
                </a:solidFill>
              </a:rPr>
              <a:t>Sprint 4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E8449"/>
                </a:solidFill>
              </a:rPr>
              <a:t>Delivered ✓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86400" y="1024128"/>
            <a:ext cx="157276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0" y="1024128"/>
            <a:ext cx="1572768" cy="5029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102412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Page 4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559552" y="16002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085"/>
                </a:solidFill>
              </a:rPr>
              <a:t>Customer Segmentation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577840" y="2176272"/>
            <a:ext cx="1389888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2240280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6-segment scatter plot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Contract × Sub risk heatmap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Segment churn rates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577840" y="3584448"/>
            <a:ext cx="1389888" cy="27432"/>
          </a:xfrm>
          <a:prstGeom prst="rect">
            <a:avLst/>
          </a:prstGeom>
          <a:solidFill>
            <a:srgbClr val="D5DCE8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0" y="36576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085"/>
                </a:solidFill>
              </a:rPr>
              <a:t>👤 Ghadeer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577840" y="3977640"/>
            <a:ext cx="1389888" cy="457200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0" y="39776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8449"/>
                </a:solidFill>
              </a:rPr>
              <a:t>Sprint 4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E8449"/>
                </a:solidFill>
              </a:rPr>
              <a:t>Delivered ✓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223760" y="1024128"/>
            <a:ext cx="157276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223760" y="1024128"/>
            <a:ext cx="1572768" cy="50292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23760" y="102412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Page 5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296912" y="16002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D3C98"/>
                </a:solidFill>
              </a:rPr>
              <a:t>Model Performance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315200" y="2176272"/>
            <a:ext cx="1389888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0" y="2240280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ROC curves all 4 models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Confusion matrix (XGBoost)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Business Impact Calculator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315200" y="3584448"/>
            <a:ext cx="1389888" cy="27432"/>
          </a:xfrm>
          <a:prstGeom prst="rect">
            <a:avLst/>
          </a:prstGeom>
          <a:solidFill>
            <a:srgbClr val="D5DCE8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23760" y="365760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D3C98"/>
                </a:solidFill>
              </a:rPr>
              <a:t>👤 Hadeel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315200" y="3977640"/>
            <a:ext cx="1389888" cy="457200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0" y="397764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8449"/>
                </a:solidFill>
              </a:rPr>
              <a:t>Sprint 4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E8449"/>
                </a:solidFill>
              </a:rPr>
              <a:t>Delivered ✓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65760" y="478231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Tech Stack: Streamlit  |  Plotly  |  XGBoost  |  scikit-learn  |  SHAP  |  pandas  |  Python 3.10  |  Deployed via Google Colab + ngrok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04 · PREDICTOR DEMO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Page 2 — Live Churn Predictor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9A"/>
                </a:solidFill>
              </a:rPr>
              <a:t>Enter 11 customer features → XGBoost returns real-time probability score with retention recommendations.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841248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17320"/>
            <a:ext cx="393192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417320"/>
            <a:ext cx="39319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⚠  HIGH RISK PROFILE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1847088"/>
            <a:ext cx="37856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470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Age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148840" y="1847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35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8912" y="2157984"/>
            <a:ext cx="3785616" cy="274320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579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Tenure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48840" y="21579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2 months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8912" y="2468880"/>
            <a:ext cx="37856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468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Support Calls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14884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7 ← Key driver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8912" y="2779776"/>
            <a:ext cx="3785616" cy="274320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7797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Contract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48840" y="27797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Monthly ← Key driver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8912" y="3090672"/>
            <a:ext cx="37856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090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Payment Delay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48840" y="30906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20 days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8912" y="3401568"/>
            <a:ext cx="3785616" cy="274320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401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Subscription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148840" y="3401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Basic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38912" y="3712464"/>
            <a:ext cx="37856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7124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Total Spend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48840" y="37124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SAR 300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4041648"/>
            <a:ext cx="3931920" cy="640080"/>
          </a:xfrm>
          <a:prstGeom prst="rect">
            <a:avLst/>
          </a:prstGeom>
          <a:solidFill>
            <a:srgbClr val="FEF2F2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782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Churn Probability: 87%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3708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</a:rPr>
              <a:t>HIGH RISK — Immediate retention action required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46320" y="1417320"/>
            <a:ext cx="393192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1417320"/>
            <a:ext cx="393192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1417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 LOW RISK PROFILE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19472" y="1847088"/>
            <a:ext cx="37856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18470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Age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629400" y="1847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45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919472" y="2157984"/>
            <a:ext cx="3785616" cy="274320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21579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Tenure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629400" y="21579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48 months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919472" y="2468880"/>
            <a:ext cx="37856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2468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Support Calls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62940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1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919472" y="2779776"/>
            <a:ext cx="3785616" cy="274320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3480" y="27797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Contract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629400" y="27797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Annual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919472" y="3090672"/>
            <a:ext cx="37856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83480" y="3090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Payment Delay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629400" y="30906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2 days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919472" y="3401568"/>
            <a:ext cx="3785616" cy="274320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83480" y="3401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Subscription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629400" y="3401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Premium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919472" y="3712464"/>
            <a:ext cx="37856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83480" y="37124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Total Spend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629400" y="37124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SAR 900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846320" y="4041648"/>
            <a:ext cx="3931920" cy="640080"/>
          </a:xfrm>
          <a:prstGeom prst="rect">
            <a:avLst/>
          </a:prstGeom>
          <a:solidFill>
            <a:srgbClr val="F0FFF4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0" y="40782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</a:rPr>
              <a:t>Churn Probability: 8%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846320" y="43708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8449"/>
                </a:solidFill>
              </a:rPr>
              <a:t>LOW RISK — No immediate action needed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315968" y="2926080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vs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06 · BUSINESS VALUE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Retention Strategy &amp; Business Impact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3657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24128"/>
            <a:ext cx="36576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241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Business Impact Calculator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435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(Page 5 — Live in Dashboard)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1737360"/>
            <a:ext cx="338328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810512"/>
            <a:ext cx="3383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81051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Customer Base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14600" y="181051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50,000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157984"/>
            <a:ext cx="3383280" cy="310896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15798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Avg Customer LTV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14600" y="215798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SAR 2,400 / year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2505456"/>
            <a:ext cx="3383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50545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Model Recall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14600" y="250545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97.62%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2852928"/>
            <a:ext cx="3383280" cy="310896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5292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Retention Rate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285292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25%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200400"/>
            <a:ext cx="3383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2004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Correctly Identified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14600" y="32004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3E50"/>
                </a:solidFill>
              </a:rPr>
              <a:t>27,418 churners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3611880"/>
            <a:ext cx="338328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657600"/>
            <a:ext cx="3657600" cy="914400"/>
          </a:xfrm>
          <a:prstGeom prst="rect">
            <a:avLst/>
          </a:prstGeom>
          <a:solidFill>
            <a:srgbClr val="F0FFF4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703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Estimated Annual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Revenue Protected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1148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449"/>
                </a:solidFill>
              </a:rPr>
              <a:t>SAR 32.9 Million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251960" y="102412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Retention Recommendations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51960" y="141732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51960" y="1417320"/>
            <a:ext cx="73152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07408" y="148132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📞 Support Escalation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07408" y="176479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Route customers with 5+ support calls to dedicated retention specialists immediately.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251960" y="228600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251960" y="2286000"/>
            <a:ext cx="73152" cy="77724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07408" y="235000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📋 Contract Upgrade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407408" y="263347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Offer Monthly customers a 15% discount to switch to Annual — cuts churn by ~40%.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251960" y="315468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251960" y="3154680"/>
            <a:ext cx="73152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07408" y="3218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💳 Payment Delay Alert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407408" y="350215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Trigger proactive outreach at 10-day delay mark, before the 15-day high-risk threshold.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251960" y="402336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251960" y="4023360"/>
            <a:ext cx="73152" cy="7772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07408" y="40873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C3E50"/>
                </a:solidFill>
              </a:rPr>
              <a:t>💎 Premium Loyalty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407408" y="43708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High-spend at-risk customers warrant VIP retention packages with service upgrades.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AGILE PROCESS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5-Sprint Agile Journey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57276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1572768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058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Sprint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8F8"/>
                </a:solidFill>
              </a:rPr>
              <a:t>SM: Maha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1389888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647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F8C9A"/>
                </a:solidFill>
              </a:rPr>
              <a:t>Focus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7472" y="1975104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EDA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54203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8 items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completed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944368"/>
            <a:ext cx="1389888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01752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505K records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12 charts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Top drivers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1389888" cy="658368"/>
          </a:xfrm>
          <a:prstGeom prst="roundRect">
            <a:avLst>
              <a:gd name="adj" fmla="val 5556"/>
            </a:avLst>
          </a:prstGeom>
          <a:solidFill>
            <a:srgbClr val="F0FFF4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02336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449"/>
                </a:solidFill>
              </a:rPr>
              <a:t>100%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8449"/>
                </a:solidFill>
              </a:rPr>
              <a:t>Done ✅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11680" y="960120"/>
            <a:ext cx="157276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11680" y="960120"/>
            <a:ext cx="1572768" cy="6858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10058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Sprint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135331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8F8"/>
                </a:solidFill>
              </a:rPr>
              <a:t>SM: Hadeel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103120" y="1691640"/>
            <a:ext cx="1389888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17647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F8C9A"/>
                </a:solidFill>
              </a:rPr>
              <a:t>Focus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084832" y="1975104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Baseline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</a:rPr>
              <a:t>Model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254203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7 items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completed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03120" y="2944368"/>
            <a:ext cx="1389888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84832" y="301752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Logistic Reg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AUC 0.9285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Baseline set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103120" y="4023360"/>
            <a:ext cx="1389888" cy="658368"/>
          </a:xfrm>
          <a:prstGeom prst="roundRect">
            <a:avLst>
              <a:gd name="adj" fmla="val 5556"/>
            </a:avLst>
          </a:prstGeom>
          <a:solidFill>
            <a:srgbClr val="F0FFF4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402336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449"/>
                </a:solidFill>
              </a:rPr>
              <a:t>100%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8449"/>
                </a:solidFill>
              </a:rPr>
              <a:t>Done ✅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749040" y="960120"/>
            <a:ext cx="157276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49040" y="960120"/>
            <a:ext cx="1572768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10058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Sprint 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49040" y="135331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8F8"/>
                </a:solidFill>
              </a:rPr>
              <a:t>SM: Hadeel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840480" y="1691640"/>
            <a:ext cx="1389888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0" y="17647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F8C9A"/>
                </a:solidFill>
              </a:rPr>
              <a:t>Focus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822192" y="1975104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</a:rPr>
              <a:t>Ensemble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</a:rPr>
              <a:t>Models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40480" y="254203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9 items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completed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40480" y="2944368"/>
            <a:ext cx="1389888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22192" y="301752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RF/XGB/LGBM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AUC 0.9536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XGB selected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840480" y="4023360"/>
            <a:ext cx="1389888" cy="658368"/>
          </a:xfrm>
          <a:prstGeom prst="roundRect">
            <a:avLst>
              <a:gd name="adj" fmla="val 5556"/>
            </a:avLst>
          </a:prstGeom>
          <a:solidFill>
            <a:srgbClr val="F0FFF4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0" y="402336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449"/>
                </a:solidFill>
              </a:rPr>
              <a:t>100%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8449"/>
                </a:solidFill>
              </a:rPr>
              <a:t>Done ✅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86400" y="960120"/>
            <a:ext cx="157276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0" y="960120"/>
            <a:ext cx="1572768" cy="6858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10058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Sprint 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0" y="135331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8F8"/>
                </a:solidFill>
              </a:rPr>
              <a:t>SM: Ghadeer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577840" y="1691640"/>
            <a:ext cx="1389888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0" y="17647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F8C9A"/>
                </a:solidFill>
              </a:rPr>
              <a:t>Focus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559552" y="1975104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3483"/>
                </a:solidFill>
              </a:rPr>
              <a:t>Streamlit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C3483"/>
                </a:solidFill>
              </a:rPr>
              <a:t>Dashboard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77840" y="254203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9 items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completed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577840" y="2944368"/>
            <a:ext cx="1389888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59552" y="301752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5-page app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All KPIs met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Live deploy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577840" y="4023360"/>
            <a:ext cx="1389888" cy="658368"/>
          </a:xfrm>
          <a:prstGeom prst="roundRect">
            <a:avLst>
              <a:gd name="adj" fmla="val 5556"/>
            </a:avLst>
          </a:prstGeom>
          <a:solidFill>
            <a:srgbClr val="F0FFF4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0" y="402336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449"/>
                </a:solidFill>
              </a:rPr>
              <a:t>100%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8449"/>
                </a:solidFill>
              </a:rPr>
              <a:t>Done ✅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223760" y="960120"/>
            <a:ext cx="157276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223760" y="960120"/>
            <a:ext cx="1572768" cy="685800"/>
          </a:xfrm>
          <a:prstGeom prst="rect">
            <a:avLst/>
          </a:prstGeom>
          <a:solidFill>
            <a:srgbClr val="A04000"/>
          </a:solidFill>
          <a:ln w="12700">
            <a:solidFill>
              <a:srgbClr val="A04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23760" y="10058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Sprint 5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23760" y="135331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8F8"/>
                </a:solidFill>
              </a:rPr>
              <a:t>SM: Maha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15200" y="1691640"/>
            <a:ext cx="1389888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0" y="1764792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F8C9A"/>
                </a:solidFill>
              </a:rPr>
              <a:t>Focus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296912" y="1975104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4000"/>
                </a:solidFill>
              </a:rPr>
              <a:t>Final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04000"/>
                </a:solidFill>
              </a:rPr>
              <a:t>Deliverables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315200" y="254203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6 items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completed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315200" y="2944368"/>
            <a:ext cx="1389888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6912" y="301752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Final report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Presentation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Submission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315200" y="4023360"/>
            <a:ext cx="1389888" cy="658368"/>
          </a:xfrm>
          <a:prstGeom prst="roundRect">
            <a:avLst>
              <a:gd name="adj" fmla="val 5556"/>
            </a:avLst>
          </a:prstGeom>
          <a:solidFill>
            <a:srgbClr val="F0FFF4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0" y="4023360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449"/>
                </a:solidFill>
              </a:rPr>
              <a:t>100%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8449"/>
                </a:solidFill>
              </a:rPr>
              <a:t>Done ✅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39 total backlog items  |  5/5 KPIs exceeded  |  0 blockers across all sprints  |  10 supervisor synchronisation meetings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07 · FINAL DELIVERABLES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Sprint 5 — Testing &amp; Quality Assurance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System Integration Test — 4 Stages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89888"/>
            <a:ext cx="196596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898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Raw Data Load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176272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data_train + data_test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50K rows × 12 cols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Shape validated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1417320" cy="228600"/>
          </a:xfrm>
          <a:prstGeom prst="roundRect">
            <a:avLst>
              <a:gd name="adj" fmla="val 160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34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14600" y="1389888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14600" y="1389888"/>
            <a:ext cx="196596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3898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182880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Preprocessing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87752" y="2176272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Encoding confirmed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Scaler applied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No data leakage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88920" y="2834640"/>
            <a:ext cx="1417320" cy="228600"/>
          </a:xfrm>
          <a:prstGeom prst="roundRect">
            <a:avLst>
              <a:gd name="adj" fmla="val 160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2834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1389888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389888"/>
            <a:ext cx="196596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3898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182880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Model Inference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36592" y="2176272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xgboost.pkl AUC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&gt; 0.95 on test set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Matches Sprint 3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37760" y="2834640"/>
            <a:ext cx="1417320" cy="228600"/>
          </a:xfrm>
          <a:prstGeom prst="roundRect">
            <a:avLst>
              <a:gd name="adj" fmla="val 160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834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12280" y="1389888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12280" y="1389888"/>
            <a:ext cx="196596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13898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03720" y="182880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Dashboard Render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85432" y="2176272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All 5 pages &lt; 2s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Caching active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KPI 5 confirmed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086600" y="2834640"/>
            <a:ext cx="1417320" cy="228600"/>
          </a:xfrm>
          <a:prstGeom prst="roundRect">
            <a:avLst>
              <a:gd name="adj" fmla="val 160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2834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5760" y="32461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Smoke Test — tests/test_prediction.py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3611880"/>
            <a:ext cx="84124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" y="3657600"/>
            <a:ext cx="1005840" cy="155448"/>
          </a:xfrm>
          <a:prstGeom prst="roundRect">
            <a:avLst>
              <a:gd name="adj" fmla="val 17647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657600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Assertion 1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536192" y="3611880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xgboost.pkl loads without error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046720" y="3611880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</a:rPr>
              <a:t>✓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886200"/>
            <a:ext cx="8412480" cy="246888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8912" y="3931920"/>
            <a:ext cx="1005840" cy="155448"/>
          </a:xfrm>
          <a:prstGeom prst="roundRect">
            <a:avLst>
              <a:gd name="adj" fmla="val 17647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3931920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Assertion 2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536192" y="3886200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scaler.pkl loads without error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046720" y="3886200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</a:rPr>
              <a:t>✓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160520"/>
            <a:ext cx="84124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8912" y="4206240"/>
            <a:ext cx="1005840" cy="155448"/>
          </a:xfrm>
          <a:prstGeom prst="roundRect">
            <a:avLst>
              <a:gd name="adj" fmla="val 17647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" y="4206240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Assertion 3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536192" y="4160520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HIGH RISK input [7 support calls, Monthly] → probability &gt; 0.70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046720" y="4160520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</a:rPr>
              <a:t>✓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4434840"/>
            <a:ext cx="8412480" cy="246888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8912" y="4480560"/>
            <a:ext cx="1005840" cy="155448"/>
          </a:xfrm>
          <a:prstGeom prst="roundRect">
            <a:avLst>
              <a:gd name="adj" fmla="val 17647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4480560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Assertion 4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536192" y="4434840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LOW RISK input [1 support call, Annual] → probability &lt; 0.30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046720" y="4434840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</a:rPr>
              <a:t>✓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65760" y="4709160"/>
            <a:ext cx="84124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8912" y="4754880"/>
            <a:ext cx="1005840" cy="155448"/>
          </a:xfrm>
          <a:prstGeom prst="roundRect">
            <a:avLst>
              <a:gd name="adj" fmla="val 17647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8912" y="4754880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Assertion 5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536192" y="4709160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Feature order matches 10 training features exactly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046720" y="4709160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449"/>
                </a:solidFill>
              </a:rPr>
              <a:t>✓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FUTURE WORK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Limitations &amp; Future 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43000"/>
            <a:ext cx="4023360" cy="7315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07592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📊 Sampling Limitation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1645920"/>
            <a:ext cx="38039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50K stratified sample used for training. Full 505K dataset training would improve generalisation on edge-case profiles.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43000"/>
            <a:ext cx="40233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307592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📱 Mobile Responsiveness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64608" y="1645920"/>
            <a:ext cx="38039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Dashboard validated on desktop only. A production release would require responsive layout validation across all devices.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4023360" cy="731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999232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⏱ Static Dataset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" y="3337560"/>
            <a:ext cx="38039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Single-snapshot data — no longitudinal records available. Time-series modelling could reveal seasonal churn patterns.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34640"/>
            <a:ext cx="402336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999232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🔁 No CI for Dashboard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3337560"/>
            <a:ext cx="38039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Smoke test added in Sprint 5, but no GitHub Actions CI workflow runs pytest on push — regressions could go undetected.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Next Steps: Hyperparameter tuning with Optuna  |  Deploy to Streamlit Cloud  |  SHAP interaction plots  |  Longitudinal churn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2926080" cy="50154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1097280"/>
            <a:ext cx="54864" cy="2743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3716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PROJECT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COMPLETE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2834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8D8"/>
                </a:solidFill>
              </a:rPr>
              <a:t>BIS405  |  Group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B8D8"/>
                </a:solidFill>
              </a:rPr>
              <a:t>Spring 2026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" y="35661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</a:rPr>
              <a:t>Maha  |  Hadeel  |  Ghadeer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0" y="36576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Key Achievements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566928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914400"/>
            <a:ext cx="5669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9875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86200" y="9875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864"/>
                </a:solidFill>
              </a:rPr>
              <a:t>All 5 KPIs Exceeded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86200" y="1280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ROC-AUC 0.9536 (target 0.75) · Load &lt; 2s (target 3s) · FPR 10.2% (target 30%)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0" y="1883664"/>
            <a:ext cx="5669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195681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86200" y="195681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864"/>
                </a:solidFill>
              </a:rPr>
              <a:t>Production Dashboard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86200" y="224942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5-page Streamlit app · XGBoost predictions · SHAP interpretability · &lt; 2s load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0" y="2852928"/>
            <a:ext cx="5669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926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86200" y="2926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864"/>
                </a:solidFill>
              </a:rPr>
              <a:t>Agile Excellence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86200" y="32186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5 sprints · 39 backlog items · 100% completion rate · 0 blockers throughout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0" y="3822192"/>
            <a:ext cx="5669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91840" y="389534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886200" y="389534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864"/>
                </a:solidFill>
              </a:rPr>
              <a:t>Business Value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86200" y="41879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SAR 32.9M annual revenue protected · 4 retention strategies · Business impact calculator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0" y="4754880"/>
            <a:ext cx="5669280" cy="256032"/>
          </a:xfrm>
          <a:prstGeom prst="rect">
            <a:avLst/>
          </a:prstGeom>
          <a:solidFill>
            <a:srgbClr val="F0F2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475488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Thank you for your time. Questions welcome.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System — BIS405 Final Presentation</dc:title>
  <dc:subject>PptxGenJS Presentation</dc:subject>
  <dc:creator>PptxGenJS</dc:creator>
  <cp:lastModifiedBy>PptxGenJS</cp:lastModifiedBy>
  <cp:revision>1</cp:revision>
  <dcterms:created xsi:type="dcterms:W3CDTF">2026-03-27T06:22:39Z</dcterms:created>
  <dcterms:modified xsi:type="dcterms:W3CDTF">2026-03-27T06:22:39Z</dcterms:modified>
</cp:coreProperties>
</file>